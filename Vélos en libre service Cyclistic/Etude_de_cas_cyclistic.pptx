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w Heavy" charset="1" panose="00000A00000000000000"/>
      <p:regular r:id="rId18"/>
    </p:embeddedFont>
    <p:embeddedFont>
      <p:font typeface="Raleway Medium" charset="1" panose="00000000000000000000"/>
      <p:regular r:id="rId19"/>
    </p:embeddedFont>
    <p:embeddedFont>
      <p:font typeface="Raleway Semi-Bold Italics" charset="1" panose="00000000000000000000"/>
      <p:regular r:id="rId20"/>
    </p:embeddedFont>
    <p:embeddedFont>
      <p:font typeface="Now" charset="1" panose="00000500000000000000"/>
      <p:regular r:id="rId21"/>
    </p:embeddedFont>
    <p:embeddedFont>
      <p:font typeface="Raleway Italics" charset="1" panose="00000000000000000000"/>
      <p:regular r:id="rId22"/>
    </p:embeddedFont>
    <p:embeddedFont>
      <p:font typeface="Now Medium" charset="1" panose="00000600000000000000"/>
      <p:regular r:id="rId23"/>
    </p:embeddedFont>
    <p:embeddedFont>
      <p:font typeface="Raleway" charset="1" panose="00000000000000000000"/>
      <p:regular r:id="rId24"/>
    </p:embeddedFont>
    <p:embeddedFont>
      <p:font typeface="Raleway Bold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9889" y="0"/>
            <a:ext cx="10958111" cy="10287000"/>
            <a:chOff x="0" y="0"/>
            <a:chExt cx="28860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60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886087">
                  <a:moveTo>
                    <a:pt x="0" y="0"/>
                  </a:moveTo>
                  <a:lnTo>
                    <a:pt x="2886087" y="0"/>
                  </a:lnTo>
                  <a:lnTo>
                    <a:pt x="28860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860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3772" y="627812"/>
            <a:ext cx="6746117" cy="9072650"/>
            <a:chOff x="0" y="0"/>
            <a:chExt cx="1045150" cy="1405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5150" cy="1405591"/>
            </a:xfrm>
            <a:custGeom>
              <a:avLst/>
              <a:gdLst/>
              <a:ahLst/>
              <a:cxnLst/>
              <a:rect r="r" b="b" t="t" l="l"/>
              <a:pathLst>
                <a:path h="1405591" w="1045150">
                  <a:moveTo>
                    <a:pt x="0" y="0"/>
                  </a:moveTo>
                  <a:lnTo>
                    <a:pt x="1045150" y="0"/>
                  </a:lnTo>
                  <a:lnTo>
                    <a:pt x="1045150" y="1405591"/>
                  </a:lnTo>
                  <a:lnTo>
                    <a:pt x="0" y="1405591"/>
                  </a:lnTo>
                  <a:close/>
                </a:path>
              </a:pathLst>
            </a:custGeom>
            <a:blipFill>
              <a:blip r:embed="rId2"/>
              <a:stretch>
                <a:fillRect l="-51048" t="0" r="-5104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648646" y="3841418"/>
            <a:ext cx="859442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 strike="noStrike" u="none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ANALYSE DES USAGES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8646" y="5840404"/>
            <a:ext cx="8815315" cy="16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 strike="noStrike" u="none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ÉTUDE COMPORTEMENTALE DES UTILISATEURS 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48646" y="1028065"/>
            <a:ext cx="4407658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 strike="noStrike" u="none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CYCLISTIC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59549" y="1028065"/>
            <a:ext cx="2840251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 strike="noStrike" u="none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25/06/2025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648646" y="1769999"/>
            <a:ext cx="9451154" cy="0"/>
          </a:xfrm>
          <a:prstGeom prst="line">
            <a:avLst/>
          </a:prstGeom>
          <a:ln cap="flat" w="19050">
            <a:solidFill>
              <a:srgbClr val="8951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5186" y="0"/>
            <a:ext cx="11812814" cy="10287000"/>
            <a:chOff x="0" y="0"/>
            <a:chExt cx="311119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1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11194">
                  <a:moveTo>
                    <a:pt x="0" y="0"/>
                  </a:moveTo>
                  <a:lnTo>
                    <a:pt x="3111194" y="0"/>
                  </a:lnTo>
                  <a:lnTo>
                    <a:pt x="31111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1119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04950"/>
            <a:ext cx="544648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4 RAPPELS CLES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99792" y="1637348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99792" y="4380071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80" y="1637348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02.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80" y="4380071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9792" y="2946718"/>
            <a:ext cx="416683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32" b="true">
                <a:solidFill>
                  <a:srgbClr val="013D5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•Service disponible 24h/24 – 7j/7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999792" y="5689442"/>
            <a:ext cx="416683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32" b="true">
                <a:solidFill>
                  <a:srgbClr val="013D5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•Deux types de vélos : classiques et électriques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801680" y="2946718"/>
            <a:ext cx="416683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32" b="true">
                <a:solidFill>
                  <a:srgbClr val="013D5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•1888 stations réparties dans toute la ville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801680" y="5689442"/>
            <a:ext cx="416683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32" b="true">
                <a:solidFill>
                  <a:srgbClr val="013D5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•Utilisation possible avec ou sans abonnement</a:t>
            </a:r>
          </a:p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999792" y="2313621"/>
            <a:ext cx="445762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FLÉXIBILITÉ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99792" y="5056345"/>
            <a:ext cx="445762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OFFRE DIVERSIFIÉE</a:t>
            </a:r>
          </a:p>
          <a:p>
            <a:pPr algn="l">
              <a:lnSpc>
                <a:spcPts val="2800"/>
              </a:lnSpc>
            </a:pP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801680" y="2313621"/>
            <a:ext cx="445762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RESEAU ÉTENDU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1680" y="5056345"/>
            <a:ext cx="445762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LIBERTÉ D'UTILISATION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6258" y="6026309"/>
            <a:ext cx="5446486" cy="281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SERVICE CYCLISTIC – INFORMATIONS GÉNÉRALES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2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69859" y="-238812"/>
            <a:ext cx="11719943" cy="10525812"/>
            <a:chOff x="0" y="0"/>
            <a:chExt cx="3086734" cy="2772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6734" cy="2772230"/>
            </a:xfrm>
            <a:custGeom>
              <a:avLst/>
              <a:gdLst/>
              <a:ahLst/>
              <a:cxnLst/>
              <a:rect r="r" b="b" t="t" l="l"/>
              <a:pathLst>
                <a:path h="2772230" w="3086734">
                  <a:moveTo>
                    <a:pt x="0" y="0"/>
                  </a:moveTo>
                  <a:lnTo>
                    <a:pt x="3086734" y="0"/>
                  </a:lnTo>
                  <a:lnTo>
                    <a:pt x="3086734" y="2772230"/>
                  </a:lnTo>
                  <a:lnTo>
                    <a:pt x="0" y="2772230"/>
                  </a:ln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6734" cy="2810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04950"/>
            <a:ext cx="544648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99792" y="1637348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99792" y="4380071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99792" y="7122795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05.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80" y="1637348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1680" y="4380071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99792" y="2472371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•CONTEXTE &amp; OBJECTIFS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999792" y="508635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•ANALYSE COMPORTEMENTALE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999792" y="7827644"/>
            <a:ext cx="445762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•RECOMMANDATIONS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01680" y="2472371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•PRÉSENTATION DES DONNÉES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801680" y="5111750"/>
            <a:ext cx="445762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•CONCLUSION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3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5186" y="0"/>
            <a:ext cx="11812814" cy="10287000"/>
            <a:chOff x="0" y="0"/>
            <a:chExt cx="311119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1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11194">
                  <a:moveTo>
                    <a:pt x="0" y="0"/>
                  </a:moveTo>
                  <a:lnTo>
                    <a:pt x="3111194" y="0"/>
                  </a:lnTo>
                  <a:lnTo>
                    <a:pt x="31111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1119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04950"/>
            <a:ext cx="544648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CONTEXT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99792" y="1637348"/>
            <a:ext cx="4643382" cy="10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OBJECTIF DE L’ÉTUDE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99792" y="2380154"/>
            <a:ext cx="9259508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ANALYSER LES DONNÉES D’UTILISATION 2025 AFIN D’IDENTIFIER LES HABITUDES COMPORTEMENTALES DES UTILISATEURS ET D’AMÉLIORER :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999792" y="3822358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•L’OFFRE DE VÉLOS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999792" y="443230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•LA RÉPARTITION DES STATIONS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999792" y="574040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•L’EXPÉRIENCE GLOBALE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999792" y="508635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•LES STRATÉGIES D’ABONNEMENT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AutoShape 12" id="12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4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17128" y="2419274"/>
            <a:ext cx="7386610" cy="7637747"/>
            <a:chOff x="0" y="0"/>
            <a:chExt cx="1945445" cy="2011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5445" cy="2011588"/>
            </a:xfrm>
            <a:custGeom>
              <a:avLst/>
              <a:gdLst/>
              <a:ahLst/>
              <a:cxnLst/>
              <a:rect r="r" b="b" t="t" l="l"/>
              <a:pathLst>
                <a:path h="2011588" w="1945445">
                  <a:moveTo>
                    <a:pt x="20962" y="0"/>
                  </a:moveTo>
                  <a:lnTo>
                    <a:pt x="1924483" y="0"/>
                  </a:lnTo>
                  <a:cubicBezTo>
                    <a:pt x="1930042" y="0"/>
                    <a:pt x="1935374" y="2208"/>
                    <a:pt x="1939305" y="6140"/>
                  </a:cubicBezTo>
                  <a:cubicBezTo>
                    <a:pt x="1943236" y="10071"/>
                    <a:pt x="1945445" y="15403"/>
                    <a:pt x="1945445" y="20962"/>
                  </a:cubicBezTo>
                  <a:lnTo>
                    <a:pt x="1945445" y="1990626"/>
                  </a:lnTo>
                  <a:cubicBezTo>
                    <a:pt x="1945445" y="2002203"/>
                    <a:pt x="1936060" y="2011588"/>
                    <a:pt x="1924483" y="2011588"/>
                  </a:cubicBezTo>
                  <a:lnTo>
                    <a:pt x="20962" y="2011588"/>
                  </a:lnTo>
                  <a:cubicBezTo>
                    <a:pt x="15403" y="2011588"/>
                    <a:pt x="10071" y="2009379"/>
                    <a:pt x="6140" y="2005448"/>
                  </a:cubicBezTo>
                  <a:cubicBezTo>
                    <a:pt x="2208" y="2001517"/>
                    <a:pt x="0" y="1996185"/>
                    <a:pt x="0" y="1990626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45445" cy="204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350235" y="5264160"/>
            <a:ext cx="2810775" cy="973988"/>
            <a:chOff x="0" y="0"/>
            <a:chExt cx="1042483" cy="361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83" cy="361240"/>
            </a:xfrm>
            <a:custGeom>
              <a:avLst/>
              <a:gdLst/>
              <a:ahLst/>
              <a:cxnLst/>
              <a:rect r="r" b="b" t="t" l="l"/>
              <a:pathLst>
                <a:path h="361240" w="1042483">
                  <a:moveTo>
                    <a:pt x="55087" y="0"/>
                  </a:moveTo>
                  <a:lnTo>
                    <a:pt x="987395" y="0"/>
                  </a:lnTo>
                  <a:cubicBezTo>
                    <a:pt x="1017819" y="0"/>
                    <a:pt x="1042483" y="24663"/>
                    <a:pt x="1042483" y="55087"/>
                  </a:cubicBezTo>
                  <a:lnTo>
                    <a:pt x="1042483" y="306153"/>
                  </a:lnTo>
                  <a:cubicBezTo>
                    <a:pt x="1042483" y="336577"/>
                    <a:pt x="1017819" y="361240"/>
                    <a:pt x="987395" y="361240"/>
                  </a:cubicBezTo>
                  <a:lnTo>
                    <a:pt x="55087" y="361240"/>
                  </a:lnTo>
                  <a:cubicBezTo>
                    <a:pt x="24663" y="361240"/>
                    <a:pt x="0" y="336577"/>
                    <a:pt x="0" y="306153"/>
                  </a:cubicBezTo>
                  <a:lnTo>
                    <a:pt x="0" y="55087"/>
                  </a:lnTo>
                  <a:cubicBezTo>
                    <a:pt x="0" y="24663"/>
                    <a:pt x="24663" y="0"/>
                    <a:pt x="55087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042483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60861" y="5260158"/>
            <a:ext cx="2644479" cy="916363"/>
            <a:chOff x="0" y="0"/>
            <a:chExt cx="1042483" cy="361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83" cy="361240"/>
            </a:xfrm>
            <a:custGeom>
              <a:avLst/>
              <a:gdLst/>
              <a:ahLst/>
              <a:cxnLst/>
              <a:rect r="r" b="b" t="t" l="l"/>
              <a:pathLst>
                <a:path h="361240" w="1042483">
                  <a:moveTo>
                    <a:pt x="58552" y="0"/>
                  </a:moveTo>
                  <a:lnTo>
                    <a:pt x="983931" y="0"/>
                  </a:lnTo>
                  <a:cubicBezTo>
                    <a:pt x="1016268" y="0"/>
                    <a:pt x="1042483" y="26214"/>
                    <a:pt x="1042483" y="58552"/>
                  </a:cubicBezTo>
                  <a:lnTo>
                    <a:pt x="1042483" y="302689"/>
                  </a:lnTo>
                  <a:cubicBezTo>
                    <a:pt x="1042483" y="318218"/>
                    <a:pt x="1036314" y="333110"/>
                    <a:pt x="1025333" y="344091"/>
                  </a:cubicBezTo>
                  <a:cubicBezTo>
                    <a:pt x="1014353" y="355072"/>
                    <a:pt x="999460" y="361240"/>
                    <a:pt x="983931" y="361240"/>
                  </a:cubicBezTo>
                  <a:lnTo>
                    <a:pt x="58552" y="361240"/>
                  </a:lnTo>
                  <a:cubicBezTo>
                    <a:pt x="26214" y="361240"/>
                    <a:pt x="0" y="335026"/>
                    <a:pt x="0" y="302689"/>
                  </a:cubicBezTo>
                  <a:lnTo>
                    <a:pt x="0" y="58552"/>
                  </a:lnTo>
                  <a:cubicBezTo>
                    <a:pt x="0" y="26214"/>
                    <a:pt x="26214" y="0"/>
                    <a:pt x="58552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042483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82597" y="5196521"/>
            <a:ext cx="2810775" cy="973988"/>
            <a:chOff x="0" y="0"/>
            <a:chExt cx="1042483" cy="361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2483" cy="361240"/>
            </a:xfrm>
            <a:custGeom>
              <a:avLst/>
              <a:gdLst/>
              <a:ahLst/>
              <a:cxnLst/>
              <a:rect r="r" b="b" t="t" l="l"/>
              <a:pathLst>
                <a:path h="361240" w="1042483">
                  <a:moveTo>
                    <a:pt x="55087" y="0"/>
                  </a:moveTo>
                  <a:lnTo>
                    <a:pt x="987395" y="0"/>
                  </a:lnTo>
                  <a:cubicBezTo>
                    <a:pt x="1017819" y="0"/>
                    <a:pt x="1042483" y="24663"/>
                    <a:pt x="1042483" y="55087"/>
                  </a:cubicBezTo>
                  <a:lnTo>
                    <a:pt x="1042483" y="306153"/>
                  </a:lnTo>
                  <a:cubicBezTo>
                    <a:pt x="1042483" y="336577"/>
                    <a:pt x="1017819" y="361240"/>
                    <a:pt x="987395" y="361240"/>
                  </a:cubicBezTo>
                  <a:lnTo>
                    <a:pt x="55087" y="361240"/>
                  </a:lnTo>
                  <a:cubicBezTo>
                    <a:pt x="24663" y="361240"/>
                    <a:pt x="0" y="336577"/>
                    <a:pt x="0" y="306153"/>
                  </a:cubicBezTo>
                  <a:lnTo>
                    <a:pt x="0" y="55087"/>
                  </a:lnTo>
                  <a:cubicBezTo>
                    <a:pt x="0" y="24663"/>
                    <a:pt x="24663" y="0"/>
                    <a:pt x="55087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042483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93778" y="5196521"/>
            <a:ext cx="2747925" cy="916363"/>
            <a:chOff x="0" y="0"/>
            <a:chExt cx="1083263" cy="361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3263" cy="361240"/>
            </a:xfrm>
            <a:custGeom>
              <a:avLst/>
              <a:gdLst/>
              <a:ahLst/>
              <a:cxnLst/>
              <a:rect r="r" b="b" t="t" l="l"/>
              <a:pathLst>
                <a:path h="361240" w="1083263">
                  <a:moveTo>
                    <a:pt x="56347" y="0"/>
                  </a:moveTo>
                  <a:lnTo>
                    <a:pt x="1026915" y="0"/>
                  </a:lnTo>
                  <a:cubicBezTo>
                    <a:pt x="1058035" y="0"/>
                    <a:pt x="1083263" y="25228"/>
                    <a:pt x="1083263" y="56347"/>
                  </a:cubicBezTo>
                  <a:lnTo>
                    <a:pt x="1083263" y="304893"/>
                  </a:lnTo>
                  <a:cubicBezTo>
                    <a:pt x="1083263" y="336013"/>
                    <a:pt x="1058035" y="361240"/>
                    <a:pt x="1026915" y="361240"/>
                  </a:cubicBezTo>
                  <a:lnTo>
                    <a:pt x="56347" y="361240"/>
                  </a:lnTo>
                  <a:cubicBezTo>
                    <a:pt x="25228" y="361240"/>
                    <a:pt x="0" y="336013"/>
                    <a:pt x="0" y="304893"/>
                  </a:cubicBezTo>
                  <a:lnTo>
                    <a:pt x="0" y="56347"/>
                  </a:lnTo>
                  <a:cubicBezTo>
                    <a:pt x="0" y="25228"/>
                    <a:pt x="25228" y="0"/>
                    <a:pt x="56347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083263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39368" y="3930376"/>
            <a:ext cx="10128027" cy="5650271"/>
          </a:xfrm>
          <a:custGeom>
            <a:avLst/>
            <a:gdLst/>
            <a:ahLst/>
            <a:cxnLst/>
            <a:rect r="r" b="b" t="t" l="l"/>
            <a:pathLst>
              <a:path h="5650271" w="10128027">
                <a:moveTo>
                  <a:pt x="0" y="0"/>
                </a:moveTo>
                <a:lnTo>
                  <a:pt x="10128027" y="0"/>
                </a:lnTo>
                <a:lnTo>
                  <a:pt x="10128027" y="5650271"/>
                </a:lnTo>
                <a:lnTo>
                  <a:pt x="0" y="5650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23" t="-4171" r="-4514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128712"/>
            <a:ext cx="8115300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RÉPARTITION DES USAGES</a:t>
            </a:r>
          </a:p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1470" y="5384837"/>
            <a:ext cx="1487763" cy="62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71"/>
              </a:lnSpc>
              <a:spcBef>
                <a:spcPct val="0"/>
              </a:spcBef>
            </a:pPr>
            <a:r>
              <a:rPr lang="en-US" b="true" sz="3550">
                <a:solidFill>
                  <a:srgbClr val="895159"/>
                </a:solidFill>
                <a:latin typeface="Now Medium"/>
                <a:ea typeface="Now Medium"/>
                <a:cs typeface="Now Medium"/>
                <a:sym typeface="Now Medium"/>
              </a:rPr>
              <a:t>32%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21881" y="5389688"/>
            <a:ext cx="1399741" cy="57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6"/>
              </a:lnSpc>
              <a:spcBef>
                <a:spcPct val="0"/>
              </a:spcBef>
            </a:pPr>
            <a:r>
              <a:rPr lang="en-US" b="true" sz="3340">
                <a:solidFill>
                  <a:srgbClr val="895159"/>
                </a:solidFill>
                <a:latin typeface="Now Medium"/>
                <a:ea typeface="Now Medium"/>
                <a:cs typeface="Now Medium"/>
                <a:sym typeface="Now Medium"/>
              </a:rPr>
              <a:t>47,41%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29392" y="5495312"/>
            <a:ext cx="1349021" cy="39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"/>
              </a:lnSpc>
            </a:pPr>
            <a:r>
              <a:rPr lang="en-US" b="true" sz="1136" spc="56">
                <a:solidFill>
                  <a:srgbClr val="89515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LÉGENDE</a:t>
            </a:r>
          </a:p>
          <a:p>
            <a:pPr algn="l" marL="0" indent="0" lvl="0">
              <a:lnSpc>
                <a:spcPts val="1590"/>
              </a:lnSpc>
              <a:spcBef>
                <a:spcPct val="0"/>
              </a:spcBef>
            </a:pPr>
            <a:r>
              <a:rPr lang="en-US" b="true" sz="1136" spc="56">
                <a:solidFill>
                  <a:srgbClr val="89515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DU CHIFFRE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698323" y="5574708"/>
            <a:ext cx="1269208" cy="17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6"/>
              </a:lnSpc>
              <a:spcBef>
                <a:spcPct val="0"/>
              </a:spcBef>
            </a:pPr>
            <a:r>
              <a:rPr lang="en-US" sz="1068" spc="53">
                <a:solidFill>
                  <a:srgbClr val="895159"/>
                </a:solidFill>
                <a:latin typeface="Raleway"/>
                <a:ea typeface="Raleway"/>
                <a:cs typeface="Raleway"/>
                <a:sym typeface="Raleway"/>
              </a:rPr>
              <a:t>CLASSIQUE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502635" y="5416560"/>
            <a:ext cx="2432112" cy="606172"/>
            <a:chOff x="0" y="0"/>
            <a:chExt cx="902041" cy="2248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2041" cy="224822"/>
            </a:xfrm>
            <a:custGeom>
              <a:avLst/>
              <a:gdLst/>
              <a:ahLst/>
              <a:cxnLst/>
              <a:rect r="r" b="b" t="t" l="l"/>
              <a:pathLst>
                <a:path h="224822" w="902041">
                  <a:moveTo>
                    <a:pt x="63664" y="0"/>
                  </a:moveTo>
                  <a:lnTo>
                    <a:pt x="838377" y="0"/>
                  </a:lnTo>
                  <a:cubicBezTo>
                    <a:pt x="855262" y="0"/>
                    <a:pt x="871455" y="6707"/>
                    <a:pt x="883394" y="18647"/>
                  </a:cubicBezTo>
                  <a:cubicBezTo>
                    <a:pt x="895334" y="30586"/>
                    <a:pt x="902041" y="46779"/>
                    <a:pt x="902041" y="63664"/>
                  </a:cubicBezTo>
                  <a:lnTo>
                    <a:pt x="902041" y="161158"/>
                  </a:lnTo>
                  <a:cubicBezTo>
                    <a:pt x="902041" y="196318"/>
                    <a:pt x="873538" y="224822"/>
                    <a:pt x="838377" y="224822"/>
                  </a:cubicBezTo>
                  <a:lnTo>
                    <a:pt x="63664" y="224822"/>
                  </a:lnTo>
                  <a:cubicBezTo>
                    <a:pt x="46779" y="224822"/>
                    <a:pt x="30586" y="218114"/>
                    <a:pt x="18647" y="206175"/>
                  </a:cubicBezTo>
                  <a:cubicBezTo>
                    <a:pt x="6707" y="194236"/>
                    <a:pt x="0" y="178042"/>
                    <a:pt x="0" y="161158"/>
                  </a:cubicBezTo>
                  <a:lnTo>
                    <a:pt x="0" y="63664"/>
                  </a:lnTo>
                  <a:cubicBezTo>
                    <a:pt x="0" y="46779"/>
                    <a:pt x="6707" y="30586"/>
                    <a:pt x="18647" y="18647"/>
                  </a:cubicBezTo>
                  <a:cubicBezTo>
                    <a:pt x="30586" y="6707"/>
                    <a:pt x="46779" y="0"/>
                    <a:pt x="63664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52400"/>
              <a:ext cx="902041" cy="37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350235" y="5370638"/>
            <a:ext cx="1878279" cy="62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71"/>
              </a:lnSpc>
              <a:spcBef>
                <a:spcPct val="0"/>
              </a:spcBef>
            </a:pPr>
            <a:r>
              <a:rPr lang="en-US" b="true" sz="3550">
                <a:solidFill>
                  <a:srgbClr val="895159"/>
                </a:solidFill>
                <a:latin typeface="Now Medium"/>
                <a:ea typeface="Now Medium"/>
                <a:cs typeface="Now Medium"/>
                <a:sym typeface="Now Medium"/>
              </a:rPr>
              <a:t>52,59%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89233" y="5607424"/>
            <a:ext cx="1349021" cy="19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0"/>
              </a:lnSpc>
              <a:spcBef>
                <a:spcPct val="0"/>
              </a:spcBef>
            </a:pPr>
            <a:r>
              <a:rPr lang="en-US" sz="1136" spc="56">
                <a:solidFill>
                  <a:srgbClr val="895159"/>
                </a:solidFill>
                <a:latin typeface="Raleway"/>
                <a:ea typeface="Raleway"/>
                <a:cs typeface="Raleway"/>
                <a:sym typeface="Raleway"/>
              </a:rPr>
              <a:t>ELECTRIQUE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985878" y="8102926"/>
            <a:ext cx="2505050" cy="868048"/>
            <a:chOff x="0" y="0"/>
            <a:chExt cx="1042483" cy="361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2483" cy="361240"/>
            </a:xfrm>
            <a:custGeom>
              <a:avLst/>
              <a:gdLst/>
              <a:ahLst/>
              <a:cxnLst/>
              <a:rect r="r" b="b" t="t" l="l"/>
              <a:pathLst>
                <a:path h="361240" w="1042483">
                  <a:moveTo>
                    <a:pt x="61810" y="0"/>
                  </a:moveTo>
                  <a:lnTo>
                    <a:pt x="980672" y="0"/>
                  </a:lnTo>
                  <a:cubicBezTo>
                    <a:pt x="1014809" y="0"/>
                    <a:pt x="1042483" y="27674"/>
                    <a:pt x="1042483" y="61810"/>
                  </a:cubicBezTo>
                  <a:lnTo>
                    <a:pt x="1042483" y="299430"/>
                  </a:lnTo>
                  <a:cubicBezTo>
                    <a:pt x="1042483" y="333567"/>
                    <a:pt x="1014809" y="361240"/>
                    <a:pt x="980672" y="361240"/>
                  </a:cubicBezTo>
                  <a:lnTo>
                    <a:pt x="61810" y="361240"/>
                  </a:lnTo>
                  <a:cubicBezTo>
                    <a:pt x="27674" y="361240"/>
                    <a:pt x="0" y="333567"/>
                    <a:pt x="0" y="299430"/>
                  </a:cubicBezTo>
                  <a:lnTo>
                    <a:pt x="0" y="61810"/>
                  </a:lnTo>
                  <a:cubicBezTo>
                    <a:pt x="0" y="27674"/>
                    <a:pt x="27674" y="0"/>
                    <a:pt x="61810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52400"/>
              <a:ext cx="1042483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893778" y="8124436"/>
            <a:ext cx="2747925" cy="868048"/>
            <a:chOff x="0" y="0"/>
            <a:chExt cx="1143556" cy="361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556" cy="361240"/>
            </a:xfrm>
            <a:custGeom>
              <a:avLst/>
              <a:gdLst/>
              <a:ahLst/>
              <a:cxnLst/>
              <a:rect r="r" b="b" t="t" l="l"/>
              <a:pathLst>
                <a:path h="361240" w="1143556">
                  <a:moveTo>
                    <a:pt x="56347" y="0"/>
                  </a:moveTo>
                  <a:lnTo>
                    <a:pt x="1087208" y="0"/>
                  </a:lnTo>
                  <a:cubicBezTo>
                    <a:pt x="1118328" y="0"/>
                    <a:pt x="1143556" y="25228"/>
                    <a:pt x="1143556" y="56347"/>
                  </a:cubicBezTo>
                  <a:lnTo>
                    <a:pt x="1143556" y="304893"/>
                  </a:lnTo>
                  <a:cubicBezTo>
                    <a:pt x="1143556" y="336013"/>
                    <a:pt x="1118328" y="361240"/>
                    <a:pt x="1087208" y="361240"/>
                  </a:cubicBezTo>
                  <a:lnTo>
                    <a:pt x="56347" y="361240"/>
                  </a:lnTo>
                  <a:cubicBezTo>
                    <a:pt x="25228" y="361240"/>
                    <a:pt x="0" y="336013"/>
                    <a:pt x="0" y="304893"/>
                  </a:cubicBezTo>
                  <a:lnTo>
                    <a:pt x="0" y="56347"/>
                  </a:lnTo>
                  <a:cubicBezTo>
                    <a:pt x="0" y="25228"/>
                    <a:pt x="25228" y="0"/>
                    <a:pt x="56347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52400"/>
              <a:ext cx="1143556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997224" y="8268541"/>
            <a:ext cx="1564753" cy="55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0"/>
              </a:lnSpc>
              <a:spcBef>
                <a:spcPct val="0"/>
              </a:spcBef>
            </a:pPr>
            <a:r>
              <a:rPr lang="en-US" b="true" sz="3164">
                <a:solidFill>
                  <a:srgbClr val="895159"/>
                </a:solidFill>
                <a:latin typeface="Now Medium"/>
                <a:ea typeface="Now Medium"/>
                <a:cs typeface="Now Medium"/>
                <a:sym typeface="Now Medium"/>
              </a:rPr>
              <a:t>35,83%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39413" y="8504864"/>
            <a:ext cx="1202289" cy="17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7"/>
              </a:lnSpc>
              <a:spcBef>
                <a:spcPct val="0"/>
              </a:spcBef>
            </a:pPr>
            <a:r>
              <a:rPr lang="en-US" b="true" sz="1012" spc="50">
                <a:solidFill>
                  <a:srgbClr val="89515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OCCASIONNELS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572812" y="8173963"/>
            <a:ext cx="2505050" cy="868048"/>
            <a:chOff x="0" y="0"/>
            <a:chExt cx="1042483" cy="361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2483" cy="361240"/>
            </a:xfrm>
            <a:custGeom>
              <a:avLst/>
              <a:gdLst/>
              <a:ahLst/>
              <a:cxnLst/>
              <a:rect r="r" b="b" t="t" l="l"/>
              <a:pathLst>
                <a:path h="361240" w="1042483">
                  <a:moveTo>
                    <a:pt x="61810" y="0"/>
                  </a:moveTo>
                  <a:lnTo>
                    <a:pt x="980672" y="0"/>
                  </a:lnTo>
                  <a:cubicBezTo>
                    <a:pt x="1014809" y="0"/>
                    <a:pt x="1042483" y="27674"/>
                    <a:pt x="1042483" y="61810"/>
                  </a:cubicBezTo>
                  <a:lnTo>
                    <a:pt x="1042483" y="299430"/>
                  </a:lnTo>
                  <a:cubicBezTo>
                    <a:pt x="1042483" y="333567"/>
                    <a:pt x="1014809" y="361240"/>
                    <a:pt x="980672" y="361240"/>
                  </a:cubicBezTo>
                  <a:lnTo>
                    <a:pt x="61810" y="361240"/>
                  </a:lnTo>
                  <a:cubicBezTo>
                    <a:pt x="27674" y="361240"/>
                    <a:pt x="0" y="333567"/>
                    <a:pt x="0" y="299430"/>
                  </a:cubicBezTo>
                  <a:lnTo>
                    <a:pt x="0" y="61810"/>
                  </a:lnTo>
                  <a:cubicBezTo>
                    <a:pt x="0" y="27674"/>
                    <a:pt x="27674" y="0"/>
                    <a:pt x="61810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52400"/>
              <a:ext cx="1042483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282597" y="8113681"/>
            <a:ext cx="2810775" cy="868048"/>
            <a:chOff x="0" y="0"/>
            <a:chExt cx="1169711" cy="361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69711" cy="361240"/>
            </a:xfrm>
            <a:custGeom>
              <a:avLst/>
              <a:gdLst/>
              <a:ahLst/>
              <a:cxnLst/>
              <a:rect r="r" b="b" t="t" l="l"/>
              <a:pathLst>
                <a:path h="361240" w="1169711">
                  <a:moveTo>
                    <a:pt x="55087" y="0"/>
                  </a:moveTo>
                  <a:lnTo>
                    <a:pt x="1114623" y="0"/>
                  </a:lnTo>
                  <a:cubicBezTo>
                    <a:pt x="1145047" y="0"/>
                    <a:pt x="1169711" y="24663"/>
                    <a:pt x="1169711" y="55087"/>
                  </a:cubicBezTo>
                  <a:lnTo>
                    <a:pt x="1169711" y="306153"/>
                  </a:lnTo>
                  <a:cubicBezTo>
                    <a:pt x="1169711" y="336577"/>
                    <a:pt x="1145047" y="361240"/>
                    <a:pt x="1114623" y="361240"/>
                  </a:cubicBezTo>
                  <a:lnTo>
                    <a:pt x="55087" y="361240"/>
                  </a:lnTo>
                  <a:cubicBezTo>
                    <a:pt x="24663" y="361240"/>
                    <a:pt x="0" y="336577"/>
                    <a:pt x="0" y="306153"/>
                  </a:cubicBezTo>
                  <a:lnTo>
                    <a:pt x="0" y="55087"/>
                  </a:lnTo>
                  <a:cubicBezTo>
                    <a:pt x="0" y="24663"/>
                    <a:pt x="24663" y="0"/>
                    <a:pt x="55087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152400"/>
              <a:ext cx="1169711" cy="51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601470" y="8268541"/>
            <a:ext cx="1573321" cy="55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0"/>
              </a:lnSpc>
              <a:spcBef>
                <a:spcPct val="0"/>
              </a:spcBef>
            </a:pPr>
            <a:r>
              <a:rPr lang="en-US" b="true" sz="3164">
                <a:solidFill>
                  <a:srgbClr val="895159"/>
                </a:solidFill>
                <a:latin typeface="Now Medium"/>
                <a:ea typeface="Now Medium"/>
                <a:cs typeface="Now Medium"/>
                <a:sym typeface="Now Medium"/>
              </a:rPr>
              <a:t>64,17%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089233" y="8475228"/>
            <a:ext cx="1202289" cy="17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7"/>
              </a:lnSpc>
              <a:spcBef>
                <a:spcPct val="0"/>
              </a:spcBef>
            </a:pPr>
            <a:r>
              <a:rPr lang="en-US" b="true" sz="1012" spc="50">
                <a:solidFill>
                  <a:srgbClr val="89515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ABONNÉS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62712" y="3970971"/>
            <a:ext cx="489544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VÉLOS ÉLECTRIQUES/CLASSIQUES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1616940" y="6914422"/>
            <a:ext cx="564262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UTILISATEURS ABONNÉS/OCCASIONNELS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648" y="1781996"/>
            <a:ext cx="11412626" cy="8487501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0725744" y="2475532"/>
            <a:ext cx="7386610" cy="7637747"/>
            <a:chOff x="0" y="0"/>
            <a:chExt cx="1945445" cy="20115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5445" cy="2011588"/>
            </a:xfrm>
            <a:custGeom>
              <a:avLst/>
              <a:gdLst/>
              <a:ahLst/>
              <a:cxnLst/>
              <a:rect r="r" b="b" t="t" l="l"/>
              <a:pathLst>
                <a:path h="2011588" w="1945445">
                  <a:moveTo>
                    <a:pt x="20962" y="0"/>
                  </a:moveTo>
                  <a:lnTo>
                    <a:pt x="1924483" y="0"/>
                  </a:lnTo>
                  <a:cubicBezTo>
                    <a:pt x="1930042" y="0"/>
                    <a:pt x="1935374" y="2208"/>
                    <a:pt x="1939305" y="6140"/>
                  </a:cubicBezTo>
                  <a:cubicBezTo>
                    <a:pt x="1943236" y="10071"/>
                    <a:pt x="1945445" y="15403"/>
                    <a:pt x="1945445" y="20962"/>
                  </a:cubicBezTo>
                  <a:lnTo>
                    <a:pt x="1945445" y="1990626"/>
                  </a:lnTo>
                  <a:cubicBezTo>
                    <a:pt x="1945445" y="2002203"/>
                    <a:pt x="1936060" y="2011588"/>
                    <a:pt x="1924483" y="2011588"/>
                  </a:cubicBezTo>
                  <a:lnTo>
                    <a:pt x="20962" y="2011588"/>
                  </a:lnTo>
                  <a:cubicBezTo>
                    <a:pt x="15403" y="2011588"/>
                    <a:pt x="10071" y="2009379"/>
                    <a:pt x="6140" y="2005448"/>
                  </a:cubicBezTo>
                  <a:cubicBezTo>
                    <a:pt x="2208" y="2001517"/>
                    <a:pt x="0" y="1996185"/>
                    <a:pt x="0" y="1990626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45445" cy="204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28712"/>
            <a:ext cx="11458671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UTILISATION PAR TYPE D’UTILISATEUR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274708" y="5509982"/>
            <a:ext cx="5749857" cy="1239335"/>
            <a:chOff x="0" y="0"/>
            <a:chExt cx="2132553" cy="4596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74708" y="3454306"/>
            <a:ext cx="5451317" cy="1174017"/>
            <a:chOff x="0" y="0"/>
            <a:chExt cx="2021828" cy="435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1828" cy="435429"/>
            </a:xfrm>
            <a:custGeom>
              <a:avLst/>
              <a:gdLst/>
              <a:ahLst/>
              <a:cxnLst/>
              <a:rect r="r" b="b" t="t" l="l"/>
              <a:pathLst>
                <a:path h="435429" w="2021828">
                  <a:moveTo>
                    <a:pt x="28404" y="0"/>
                  </a:moveTo>
                  <a:lnTo>
                    <a:pt x="1993424" y="0"/>
                  </a:lnTo>
                  <a:cubicBezTo>
                    <a:pt x="2000957" y="0"/>
                    <a:pt x="2008182" y="2993"/>
                    <a:pt x="2013509" y="8319"/>
                  </a:cubicBezTo>
                  <a:cubicBezTo>
                    <a:pt x="2018835" y="13646"/>
                    <a:pt x="2021828" y="20871"/>
                    <a:pt x="2021828" y="28404"/>
                  </a:cubicBezTo>
                  <a:lnTo>
                    <a:pt x="2021828" y="407025"/>
                  </a:lnTo>
                  <a:cubicBezTo>
                    <a:pt x="2021828" y="414558"/>
                    <a:pt x="2018835" y="421783"/>
                    <a:pt x="2013509" y="427109"/>
                  </a:cubicBezTo>
                  <a:cubicBezTo>
                    <a:pt x="2008182" y="432436"/>
                    <a:pt x="2000957" y="435429"/>
                    <a:pt x="1993424" y="435429"/>
                  </a:cubicBezTo>
                  <a:lnTo>
                    <a:pt x="28404" y="435429"/>
                  </a:lnTo>
                  <a:cubicBezTo>
                    <a:pt x="20871" y="435429"/>
                    <a:pt x="13646" y="432436"/>
                    <a:pt x="8319" y="427109"/>
                  </a:cubicBezTo>
                  <a:cubicBezTo>
                    <a:pt x="2993" y="421783"/>
                    <a:pt x="0" y="414558"/>
                    <a:pt x="0" y="407025"/>
                  </a:cubicBezTo>
                  <a:lnTo>
                    <a:pt x="0" y="28404"/>
                  </a:lnTo>
                  <a:cubicBezTo>
                    <a:pt x="0" y="20871"/>
                    <a:pt x="2993" y="13646"/>
                    <a:pt x="8319" y="8319"/>
                  </a:cubicBezTo>
                  <a:cubicBezTo>
                    <a:pt x="13646" y="2993"/>
                    <a:pt x="20871" y="0"/>
                    <a:pt x="28404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21828" cy="47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591"/>
                </a:lnSpc>
                <a:spcBef>
                  <a:spcPct val="0"/>
                </a:spcBef>
              </a:pPr>
              <a:r>
                <a:rPr lang="en-US" b="true" sz="18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•LES MEMBRES REPRÉSENTENT LA MAJORITÉ DES TRAJETS.</a:t>
              </a:r>
            </a:p>
            <a:p>
              <a:pPr algn="l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06235" y="3311551"/>
            <a:ext cx="5734648" cy="1250096"/>
            <a:chOff x="0" y="0"/>
            <a:chExt cx="2126912" cy="463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6912" cy="463646"/>
            </a:xfrm>
            <a:custGeom>
              <a:avLst/>
              <a:gdLst/>
              <a:ahLst/>
              <a:cxnLst/>
              <a:rect r="r" b="b" t="t" l="l"/>
              <a:pathLst>
                <a:path h="463646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36645"/>
                  </a:lnTo>
                  <a:cubicBezTo>
                    <a:pt x="2126912" y="443806"/>
                    <a:pt x="2124068" y="450674"/>
                    <a:pt x="2119004" y="455737"/>
                  </a:cubicBezTo>
                  <a:cubicBezTo>
                    <a:pt x="2113940" y="460801"/>
                    <a:pt x="2107073" y="463646"/>
                    <a:pt x="2099912" y="463646"/>
                  </a:cubicBezTo>
                  <a:lnTo>
                    <a:pt x="27001" y="463646"/>
                  </a:lnTo>
                  <a:cubicBezTo>
                    <a:pt x="12089" y="463646"/>
                    <a:pt x="0" y="451557"/>
                    <a:pt x="0" y="436645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2126912" cy="616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2000" spc="40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06235" y="5380797"/>
            <a:ext cx="5734648" cy="1289898"/>
            <a:chOff x="0" y="0"/>
            <a:chExt cx="2126912" cy="478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•LES OCCASIONNELS UTILISENT LÉGÈREMENT PLUS LES VÉLOS CLASSIQUES.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74708" y="7565099"/>
            <a:ext cx="5749857" cy="1239335"/>
            <a:chOff x="0" y="0"/>
            <a:chExt cx="2132553" cy="4596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06235" y="7425592"/>
            <a:ext cx="5734648" cy="1289898"/>
            <a:chOff x="0" y="0"/>
            <a:chExt cx="2126912" cy="4784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•LES 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M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E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MBRE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S 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PRIV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IL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ÉG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IENT L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ES T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R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AJ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ET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S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 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CO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U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RT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S E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T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 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FR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ÉQUE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NT</a:t>
              </a:r>
              <a:r>
                <a:rPr lang="en-US" b="true" sz="1750" strike="noStrike" u="none">
                  <a:solidFill>
                    <a:srgbClr val="895159"/>
                  </a:solidFill>
                  <a:latin typeface="Now Medium"/>
                  <a:ea typeface="Now Medium"/>
                  <a:cs typeface="Now Medium"/>
                  <a:sym typeface="Now Medium"/>
                </a:rPr>
                <a:t>S.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25744" y="2385229"/>
            <a:ext cx="7386610" cy="7637747"/>
            <a:chOff x="0" y="0"/>
            <a:chExt cx="1945445" cy="2011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5445" cy="2011588"/>
            </a:xfrm>
            <a:custGeom>
              <a:avLst/>
              <a:gdLst/>
              <a:ahLst/>
              <a:cxnLst/>
              <a:rect r="r" b="b" t="t" l="l"/>
              <a:pathLst>
                <a:path h="2011588" w="1945445">
                  <a:moveTo>
                    <a:pt x="20962" y="0"/>
                  </a:moveTo>
                  <a:lnTo>
                    <a:pt x="1924483" y="0"/>
                  </a:lnTo>
                  <a:cubicBezTo>
                    <a:pt x="1930042" y="0"/>
                    <a:pt x="1935374" y="2208"/>
                    <a:pt x="1939305" y="6140"/>
                  </a:cubicBezTo>
                  <a:cubicBezTo>
                    <a:pt x="1943236" y="10071"/>
                    <a:pt x="1945445" y="15403"/>
                    <a:pt x="1945445" y="20962"/>
                  </a:cubicBezTo>
                  <a:lnTo>
                    <a:pt x="1945445" y="1990626"/>
                  </a:lnTo>
                  <a:cubicBezTo>
                    <a:pt x="1945445" y="2002203"/>
                    <a:pt x="1936060" y="2011588"/>
                    <a:pt x="1924483" y="2011588"/>
                  </a:cubicBezTo>
                  <a:lnTo>
                    <a:pt x="20962" y="2011588"/>
                  </a:lnTo>
                  <a:cubicBezTo>
                    <a:pt x="15403" y="2011588"/>
                    <a:pt x="10071" y="2009379"/>
                    <a:pt x="6140" y="2005448"/>
                  </a:cubicBezTo>
                  <a:cubicBezTo>
                    <a:pt x="2208" y="2001517"/>
                    <a:pt x="0" y="1996185"/>
                    <a:pt x="0" y="1990626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45445" cy="204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74708" y="5509982"/>
            <a:ext cx="5749857" cy="1239335"/>
            <a:chOff x="0" y="0"/>
            <a:chExt cx="2132553" cy="4596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6235" y="5380797"/>
            <a:ext cx="5734648" cy="1289898"/>
            <a:chOff x="0" y="0"/>
            <a:chExt cx="2126912" cy="4784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MEMBR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ULENT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EMAINE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(U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AGE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PENDU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LAI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)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74708" y="7565099"/>
            <a:ext cx="5749857" cy="1239335"/>
            <a:chOff x="0" y="0"/>
            <a:chExt cx="2132553" cy="4596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6235" y="7425592"/>
            <a:ext cx="5734648" cy="1289898"/>
            <a:chOff x="0" y="0"/>
            <a:chExt cx="2126912" cy="4784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OCCASIONN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 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LENT 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RTOUT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SAMEDI (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SAG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LOI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IR).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0335" y="2315770"/>
            <a:ext cx="10152073" cy="7776664"/>
          </a:xfrm>
          <a:custGeom>
            <a:avLst/>
            <a:gdLst/>
            <a:ahLst/>
            <a:cxnLst/>
            <a:rect r="r" b="b" t="t" l="l"/>
            <a:pathLst>
              <a:path h="7776664" w="10152073">
                <a:moveTo>
                  <a:pt x="0" y="0"/>
                </a:moveTo>
                <a:lnTo>
                  <a:pt x="10152073" y="0"/>
                </a:lnTo>
                <a:lnTo>
                  <a:pt x="10152073" y="7776664"/>
                </a:lnTo>
                <a:lnTo>
                  <a:pt x="0" y="7776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90" t="-179" r="-3629" b="-17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128712"/>
            <a:ext cx="11458671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DU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R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ÉE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 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MO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Y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ENN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 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T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 JO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UR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 PRÉFÉRÉ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74708" y="3465187"/>
            <a:ext cx="5749857" cy="1239335"/>
            <a:chOff x="0" y="0"/>
            <a:chExt cx="2132553" cy="4596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06235" y="3336003"/>
            <a:ext cx="5734648" cy="1289898"/>
            <a:chOff x="0" y="0"/>
            <a:chExt cx="2126912" cy="4784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OCCASIONNE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 ROULENT PLUS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NG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TEMPS (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≈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30 MIN).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933234" y="9404509"/>
            <a:ext cx="3108275" cy="45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000" spc="40">
                <a:solidFill>
                  <a:srgbClr val="013D5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 = Lundi […] 7 = dimanche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25744" y="2385229"/>
            <a:ext cx="7386610" cy="7637747"/>
            <a:chOff x="0" y="0"/>
            <a:chExt cx="1945445" cy="2011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5445" cy="2011588"/>
            </a:xfrm>
            <a:custGeom>
              <a:avLst/>
              <a:gdLst/>
              <a:ahLst/>
              <a:cxnLst/>
              <a:rect r="r" b="b" t="t" l="l"/>
              <a:pathLst>
                <a:path h="2011588" w="1945445">
                  <a:moveTo>
                    <a:pt x="20962" y="0"/>
                  </a:moveTo>
                  <a:lnTo>
                    <a:pt x="1924483" y="0"/>
                  </a:lnTo>
                  <a:cubicBezTo>
                    <a:pt x="1930042" y="0"/>
                    <a:pt x="1935374" y="2208"/>
                    <a:pt x="1939305" y="6140"/>
                  </a:cubicBezTo>
                  <a:cubicBezTo>
                    <a:pt x="1943236" y="10071"/>
                    <a:pt x="1945445" y="15403"/>
                    <a:pt x="1945445" y="20962"/>
                  </a:cubicBezTo>
                  <a:lnTo>
                    <a:pt x="1945445" y="1990626"/>
                  </a:lnTo>
                  <a:cubicBezTo>
                    <a:pt x="1945445" y="2002203"/>
                    <a:pt x="1936060" y="2011588"/>
                    <a:pt x="1924483" y="2011588"/>
                  </a:cubicBezTo>
                  <a:lnTo>
                    <a:pt x="20962" y="2011588"/>
                  </a:lnTo>
                  <a:cubicBezTo>
                    <a:pt x="15403" y="2011588"/>
                    <a:pt x="10071" y="2009379"/>
                    <a:pt x="6140" y="2005448"/>
                  </a:cubicBezTo>
                  <a:cubicBezTo>
                    <a:pt x="2208" y="2001517"/>
                    <a:pt x="0" y="1996185"/>
                    <a:pt x="0" y="1990626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45445" cy="204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74708" y="5509982"/>
            <a:ext cx="5749857" cy="1239335"/>
            <a:chOff x="0" y="0"/>
            <a:chExt cx="2132553" cy="4596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6235" y="5380797"/>
            <a:ext cx="5734648" cy="1289898"/>
            <a:chOff x="0" y="0"/>
            <a:chExt cx="2126912" cy="4784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MEMBR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ULENT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EMAINE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(U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AGE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PENDU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LAI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)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74708" y="7565099"/>
            <a:ext cx="5749857" cy="1239335"/>
            <a:chOff x="0" y="0"/>
            <a:chExt cx="2132553" cy="4596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6235" y="7425592"/>
            <a:ext cx="5734648" cy="1289898"/>
            <a:chOff x="0" y="0"/>
            <a:chExt cx="2126912" cy="4784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OCCASIONN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 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LENT 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RTOUT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SAMEDI (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SAG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LOI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IR).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128712"/>
            <a:ext cx="11458671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DU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R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ÉE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 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MO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Y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ENN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 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T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 JO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UR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 PRÉFÉRÉ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74708" y="3465187"/>
            <a:ext cx="5749857" cy="1239335"/>
            <a:chOff x="0" y="0"/>
            <a:chExt cx="2132553" cy="4596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06235" y="3336003"/>
            <a:ext cx="5734648" cy="1289898"/>
            <a:chOff x="0" y="0"/>
            <a:chExt cx="2126912" cy="4784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OCCASIONNE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 ROULENT PLUS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NG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TEMPS (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≈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30 MIN).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8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110" y="1764514"/>
            <a:ext cx="11035075" cy="910166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996" y="1732879"/>
            <a:ext cx="11636453" cy="8942447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25744" y="2556771"/>
            <a:ext cx="7386610" cy="7637747"/>
            <a:chOff x="0" y="0"/>
            <a:chExt cx="1945445" cy="2011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5445" cy="2011588"/>
            </a:xfrm>
            <a:custGeom>
              <a:avLst/>
              <a:gdLst/>
              <a:ahLst/>
              <a:cxnLst/>
              <a:rect r="r" b="b" t="t" l="l"/>
              <a:pathLst>
                <a:path h="2011588" w="1945445">
                  <a:moveTo>
                    <a:pt x="20962" y="0"/>
                  </a:moveTo>
                  <a:lnTo>
                    <a:pt x="1924483" y="0"/>
                  </a:lnTo>
                  <a:cubicBezTo>
                    <a:pt x="1930042" y="0"/>
                    <a:pt x="1935374" y="2208"/>
                    <a:pt x="1939305" y="6140"/>
                  </a:cubicBezTo>
                  <a:cubicBezTo>
                    <a:pt x="1943236" y="10071"/>
                    <a:pt x="1945445" y="15403"/>
                    <a:pt x="1945445" y="20962"/>
                  </a:cubicBezTo>
                  <a:lnTo>
                    <a:pt x="1945445" y="1990626"/>
                  </a:lnTo>
                  <a:cubicBezTo>
                    <a:pt x="1945445" y="2002203"/>
                    <a:pt x="1936060" y="2011588"/>
                    <a:pt x="1924483" y="2011588"/>
                  </a:cubicBezTo>
                  <a:lnTo>
                    <a:pt x="20962" y="2011588"/>
                  </a:lnTo>
                  <a:cubicBezTo>
                    <a:pt x="15403" y="2011588"/>
                    <a:pt x="10071" y="2009379"/>
                    <a:pt x="6140" y="2005448"/>
                  </a:cubicBezTo>
                  <a:cubicBezTo>
                    <a:pt x="2208" y="2001517"/>
                    <a:pt x="0" y="1996185"/>
                    <a:pt x="0" y="1990626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45445" cy="204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8944" y="5975295"/>
            <a:ext cx="5749857" cy="1239335"/>
            <a:chOff x="0" y="0"/>
            <a:chExt cx="2132553" cy="4596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40472" y="5846111"/>
            <a:ext cx="5734648" cy="1424536"/>
            <a:chOff x="0" y="0"/>
            <a:chExt cx="2126912" cy="5283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6912" cy="528343"/>
            </a:xfrm>
            <a:custGeom>
              <a:avLst/>
              <a:gdLst/>
              <a:ahLst/>
              <a:cxnLst/>
              <a:rect r="r" b="b" t="t" l="l"/>
              <a:pathLst>
                <a:path h="528343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501343"/>
                  </a:lnTo>
                  <a:cubicBezTo>
                    <a:pt x="2126912" y="508504"/>
                    <a:pt x="2124068" y="515371"/>
                    <a:pt x="2119004" y="520435"/>
                  </a:cubicBezTo>
                  <a:cubicBezTo>
                    <a:pt x="2113940" y="525499"/>
                    <a:pt x="2107073" y="528343"/>
                    <a:pt x="2099912" y="528343"/>
                  </a:cubicBezTo>
                  <a:lnTo>
                    <a:pt x="27001" y="528343"/>
                  </a:lnTo>
                  <a:cubicBezTo>
                    <a:pt x="12089" y="528343"/>
                    <a:pt x="0" y="516255"/>
                    <a:pt x="0" y="501343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26912" cy="56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•D’AUT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ONT 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S-UTILISÉES →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EPOSI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NNEM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OU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M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LLEUR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 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GN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A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ÉT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QU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25263" y="3904165"/>
            <a:ext cx="5749857" cy="1239335"/>
            <a:chOff x="0" y="0"/>
            <a:chExt cx="2132553" cy="4596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56791" y="3774980"/>
            <a:ext cx="5734648" cy="1289898"/>
            <a:chOff x="0" y="0"/>
            <a:chExt cx="2126912" cy="4784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6912" cy="478408"/>
            </a:xfrm>
            <a:custGeom>
              <a:avLst/>
              <a:gdLst/>
              <a:ahLst/>
              <a:cxnLst/>
              <a:rect r="r" b="b" t="t" l="l"/>
              <a:pathLst>
                <a:path h="478408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451407"/>
                  </a:lnTo>
                  <a:cubicBezTo>
                    <a:pt x="2126912" y="466319"/>
                    <a:pt x="2114824" y="478408"/>
                    <a:pt x="2099912" y="478408"/>
                  </a:cubicBezTo>
                  <a:lnTo>
                    <a:pt x="27001" y="478408"/>
                  </a:lnTo>
                  <a:cubicBezTo>
                    <a:pt x="19840" y="478408"/>
                    <a:pt x="12972" y="475563"/>
                    <a:pt x="7908" y="470500"/>
                  </a:cubicBezTo>
                  <a:cubicBezTo>
                    <a:pt x="2845" y="465436"/>
                    <a:pt x="0" y="458568"/>
                    <a:pt x="0" y="451407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26912" cy="51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•CERTAIN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A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IONS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ONT 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A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URÉ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ES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→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BESOIN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D’OPTI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MI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SATIO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LOGISTIQUE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556771"/>
            <a:ext cx="9857525" cy="8227849"/>
          </a:xfrm>
          <a:custGeom>
            <a:avLst/>
            <a:gdLst/>
            <a:ahLst/>
            <a:cxnLst/>
            <a:rect r="r" b="b" t="t" l="l"/>
            <a:pathLst>
              <a:path h="8227849" w="9857525">
                <a:moveTo>
                  <a:pt x="0" y="0"/>
                </a:moveTo>
                <a:lnTo>
                  <a:pt x="9857525" y="0"/>
                </a:lnTo>
                <a:lnTo>
                  <a:pt x="9857525" y="8227849"/>
                </a:lnTo>
                <a:lnTo>
                  <a:pt x="0" y="8227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2" t="-5765" r="-30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128712"/>
            <a:ext cx="13390349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STATI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ON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S 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EXCÉDE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N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TAIRES 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/ D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ÉF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ICITAI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R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98731" y="4839653"/>
            <a:ext cx="1690539" cy="45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000" spc="40">
                <a:solidFill>
                  <a:srgbClr val="013D5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Interprétation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25744" y="2556771"/>
            <a:ext cx="7386610" cy="7637747"/>
            <a:chOff x="0" y="0"/>
            <a:chExt cx="1945445" cy="2011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5445" cy="2011588"/>
            </a:xfrm>
            <a:custGeom>
              <a:avLst/>
              <a:gdLst/>
              <a:ahLst/>
              <a:cxnLst/>
              <a:rect r="r" b="b" t="t" l="l"/>
              <a:pathLst>
                <a:path h="2011588" w="1945445">
                  <a:moveTo>
                    <a:pt x="20962" y="0"/>
                  </a:moveTo>
                  <a:lnTo>
                    <a:pt x="1924483" y="0"/>
                  </a:lnTo>
                  <a:cubicBezTo>
                    <a:pt x="1930042" y="0"/>
                    <a:pt x="1935374" y="2208"/>
                    <a:pt x="1939305" y="6140"/>
                  </a:cubicBezTo>
                  <a:cubicBezTo>
                    <a:pt x="1943236" y="10071"/>
                    <a:pt x="1945445" y="15403"/>
                    <a:pt x="1945445" y="20962"/>
                  </a:cubicBezTo>
                  <a:lnTo>
                    <a:pt x="1945445" y="1990626"/>
                  </a:lnTo>
                  <a:cubicBezTo>
                    <a:pt x="1945445" y="2002203"/>
                    <a:pt x="1936060" y="2011588"/>
                    <a:pt x="1924483" y="2011588"/>
                  </a:cubicBezTo>
                  <a:lnTo>
                    <a:pt x="20962" y="2011588"/>
                  </a:lnTo>
                  <a:cubicBezTo>
                    <a:pt x="15403" y="2011588"/>
                    <a:pt x="10071" y="2009379"/>
                    <a:pt x="6140" y="2005448"/>
                  </a:cubicBezTo>
                  <a:cubicBezTo>
                    <a:pt x="2208" y="2001517"/>
                    <a:pt x="0" y="1996185"/>
                    <a:pt x="0" y="1990626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45445" cy="204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8944" y="5767786"/>
            <a:ext cx="5749857" cy="1475999"/>
            <a:chOff x="0" y="0"/>
            <a:chExt cx="2132553" cy="5474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2553" cy="547430"/>
            </a:xfrm>
            <a:custGeom>
              <a:avLst/>
              <a:gdLst/>
              <a:ahLst/>
              <a:cxnLst/>
              <a:rect r="r" b="b" t="t" l="l"/>
              <a:pathLst>
                <a:path h="547430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520501"/>
                  </a:lnTo>
                  <a:cubicBezTo>
                    <a:pt x="2132553" y="535374"/>
                    <a:pt x="2120496" y="547430"/>
                    <a:pt x="2105624" y="547430"/>
                  </a:cubicBezTo>
                  <a:lnTo>
                    <a:pt x="26929" y="547430"/>
                  </a:lnTo>
                  <a:cubicBezTo>
                    <a:pt x="12057" y="547430"/>
                    <a:pt x="0" y="535374"/>
                    <a:pt x="0" y="520501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132553" cy="699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56791" y="5618617"/>
            <a:ext cx="5734648" cy="1729336"/>
            <a:chOff x="0" y="0"/>
            <a:chExt cx="2126912" cy="6413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6912" cy="641390"/>
            </a:xfrm>
            <a:custGeom>
              <a:avLst/>
              <a:gdLst/>
              <a:ahLst/>
              <a:cxnLst/>
              <a:rect r="r" b="b" t="t" l="l"/>
              <a:pathLst>
                <a:path h="641390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614390"/>
                  </a:lnTo>
                  <a:cubicBezTo>
                    <a:pt x="2126912" y="621550"/>
                    <a:pt x="2124068" y="628418"/>
                    <a:pt x="2119004" y="633482"/>
                  </a:cubicBezTo>
                  <a:cubicBezTo>
                    <a:pt x="2113940" y="638545"/>
                    <a:pt x="2107073" y="641390"/>
                    <a:pt x="2099912" y="641390"/>
                  </a:cubicBezTo>
                  <a:lnTo>
                    <a:pt x="27001" y="641390"/>
                  </a:lnTo>
                  <a:cubicBezTo>
                    <a:pt x="12089" y="641390"/>
                    <a:pt x="0" y="629301"/>
                    <a:pt x="0" y="614390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26912" cy="679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 LÉGER EXCÉDENT DE 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EP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EMBRE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ND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QU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RE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TOUR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P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GRES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F À UNE UTILISA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TION PLU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HO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MOGÈNE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D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 RÉSEAU.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25263" y="3904165"/>
            <a:ext cx="5749857" cy="1239335"/>
            <a:chOff x="0" y="0"/>
            <a:chExt cx="2132553" cy="4596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2553" cy="459654"/>
            </a:xfrm>
            <a:custGeom>
              <a:avLst/>
              <a:gdLst/>
              <a:ahLst/>
              <a:cxnLst/>
              <a:rect r="r" b="b" t="t" l="l"/>
              <a:pathLst>
                <a:path h="459654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432725"/>
                  </a:lnTo>
                  <a:cubicBezTo>
                    <a:pt x="2132553" y="447598"/>
                    <a:pt x="2120496" y="459654"/>
                    <a:pt x="2105624" y="459654"/>
                  </a:cubicBezTo>
                  <a:lnTo>
                    <a:pt x="26929" y="459654"/>
                  </a:lnTo>
                  <a:cubicBezTo>
                    <a:pt x="12057" y="459654"/>
                    <a:pt x="0" y="447598"/>
                    <a:pt x="0" y="432725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52400"/>
              <a:ext cx="2132553" cy="61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56791" y="3774980"/>
            <a:ext cx="5734648" cy="1424536"/>
            <a:chOff x="0" y="0"/>
            <a:chExt cx="2126912" cy="5283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6912" cy="528343"/>
            </a:xfrm>
            <a:custGeom>
              <a:avLst/>
              <a:gdLst/>
              <a:ahLst/>
              <a:cxnLst/>
              <a:rect r="r" b="b" t="t" l="l"/>
              <a:pathLst>
                <a:path h="528343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501343"/>
                  </a:lnTo>
                  <a:cubicBezTo>
                    <a:pt x="2126912" y="508504"/>
                    <a:pt x="2124068" y="515371"/>
                    <a:pt x="2119004" y="520435"/>
                  </a:cubicBezTo>
                  <a:cubicBezTo>
                    <a:pt x="2113940" y="525499"/>
                    <a:pt x="2107073" y="528343"/>
                    <a:pt x="2099912" y="528343"/>
                  </a:cubicBezTo>
                  <a:lnTo>
                    <a:pt x="27001" y="528343"/>
                  </a:lnTo>
                  <a:cubicBezTo>
                    <a:pt x="12089" y="528343"/>
                    <a:pt x="0" y="516255"/>
                    <a:pt x="0" y="501343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26912" cy="56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•LES MOI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 D’É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TÉ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MONTRENT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UN DÉFICIT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IMPORTANT,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SIGNE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D’UN DÉSÉQUIL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IBRE MARQUÉ ENTRE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STATIO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128712"/>
            <a:ext cx="13390349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S</a:t>
            </a:r>
            <a:r>
              <a:rPr lang="en-US" b="true" sz="4000" spc="280" strike="noStrike" u="none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OMME EXCÉDENTS / DÉFICITS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10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630" y="1895157"/>
            <a:ext cx="10728845" cy="9193433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1156791" y="2928117"/>
            <a:ext cx="464338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INTERPRÉTATION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308944" y="7904656"/>
            <a:ext cx="5749857" cy="1475999"/>
            <a:chOff x="0" y="0"/>
            <a:chExt cx="2132553" cy="5474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2553" cy="547430"/>
            </a:xfrm>
            <a:custGeom>
              <a:avLst/>
              <a:gdLst/>
              <a:ahLst/>
              <a:cxnLst/>
              <a:rect r="r" b="b" t="t" l="l"/>
              <a:pathLst>
                <a:path h="547430" w="2132553">
                  <a:moveTo>
                    <a:pt x="26929" y="0"/>
                  </a:moveTo>
                  <a:lnTo>
                    <a:pt x="2105624" y="0"/>
                  </a:lnTo>
                  <a:cubicBezTo>
                    <a:pt x="2120496" y="0"/>
                    <a:pt x="2132553" y="12057"/>
                    <a:pt x="2132553" y="26929"/>
                  </a:cubicBezTo>
                  <a:lnTo>
                    <a:pt x="2132553" y="520501"/>
                  </a:lnTo>
                  <a:cubicBezTo>
                    <a:pt x="2132553" y="535374"/>
                    <a:pt x="2120496" y="547430"/>
                    <a:pt x="2105624" y="547430"/>
                  </a:cubicBezTo>
                  <a:lnTo>
                    <a:pt x="26929" y="547430"/>
                  </a:lnTo>
                  <a:cubicBezTo>
                    <a:pt x="12057" y="547430"/>
                    <a:pt x="0" y="535374"/>
                    <a:pt x="0" y="520501"/>
                  </a:cubicBezTo>
                  <a:lnTo>
                    <a:pt x="0" y="26929"/>
                  </a:lnTo>
                  <a:cubicBezTo>
                    <a:pt x="0" y="12057"/>
                    <a:pt x="12057" y="0"/>
                    <a:pt x="26929" y="0"/>
                  </a:cubicBezTo>
                  <a:close/>
                </a:path>
              </a:pathLst>
            </a:custGeom>
            <a:solidFill>
              <a:srgbClr val="FFF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52400"/>
              <a:ext cx="2132553" cy="699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56791" y="7812056"/>
            <a:ext cx="5734648" cy="1424536"/>
            <a:chOff x="0" y="0"/>
            <a:chExt cx="2126912" cy="5283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6912" cy="528343"/>
            </a:xfrm>
            <a:custGeom>
              <a:avLst/>
              <a:gdLst/>
              <a:ahLst/>
              <a:cxnLst/>
              <a:rect r="r" b="b" t="t" l="l"/>
              <a:pathLst>
                <a:path h="528343" w="2126912">
                  <a:moveTo>
                    <a:pt x="27001" y="0"/>
                  </a:moveTo>
                  <a:lnTo>
                    <a:pt x="2099912" y="0"/>
                  </a:lnTo>
                  <a:cubicBezTo>
                    <a:pt x="2114824" y="0"/>
                    <a:pt x="2126912" y="12089"/>
                    <a:pt x="2126912" y="27001"/>
                  </a:cubicBezTo>
                  <a:lnTo>
                    <a:pt x="2126912" y="501343"/>
                  </a:lnTo>
                  <a:cubicBezTo>
                    <a:pt x="2126912" y="508504"/>
                    <a:pt x="2124068" y="515371"/>
                    <a:pt x="2119004" y="520435"/>
                  </a:cubicBezTo>
                  <a:cubicBezTo>
                    <a:pt x="2113940" y="525499"/>
                    <a:pt x="2107073" y="528343"/>
                    <a:pt x="2099912" y="528343"/>
                  </a:cubicBezTo>
                  <a:lnTo>
                    <a:pt x="27001" y="528343"/>
                  </a:lnTo>
                  <a:cubicBezTo>
                    <a:pt x="12089" y="528343"/>
                    <a:pt x="0" y="516255"/>
                    <a:pt x="0" y="501343"/>
                  </a:cubicBezTo>
                  <a:lnTo>
                    <a:pt x="0" y="27001"/>
                  </a:lnTo>
                  <a:cubicBezTo>
                    <a:pt x="0" y="12089"/>
                    <a:pt x="12089" y="0"/>
                    <a:pt x="27001" y="0"/>
                  </a:cubicBezTo>
                  <a:close/>
                </a:path>
              </a:pathLst>
            </a:custGeom>
            <a:ln w="28575" cap="sq">
              <a:solidFill>
                <a:srgbClr val="89515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26912" cy="56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•C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ES VARIATIONS CONFIRMENT LA NÉCESSITÉ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D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’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UN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 RÉÉQ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UILIBRAGE 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PÉ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RATI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ONNEL 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RENFORCÉ DURANT LA HAUTE SA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SO</a:t>
              </a:r>
              <a:r>
                <a:rPr lang="en-US" sz="1750" strike="noStrike" u="none">
                  <a:solidFill>
                    <a:srgbClr val="895159"/>
                  </a:solidFill>
                  <a:latin typeface="Now"/>
                  <a:ea typeface="Now"/>
                  <a:cs typeface="Now"/>
                  <a:sym typeface="Now"/>
                </a:rPr>
                <a:t>N.</a:t>
              </a:r>
            </a:p>
            <a:p>
              <a:pPr algn="l" marL="0" indent="0" lvl="0">
                <a:lnSpc>
                  <a:spcPts val="245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4034" y="1510348"/>
            <a:ext cx="620848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RECOMMANDATIONS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99792" y="1637348"/>
            <a:ext cx="4643382" cy="10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OBJECTIF DE L’ÉTUDE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999792" y="2380154"/>
            <a:ext cx="9259508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ANALYSER LES DONNÉES D’UTILISATION 2025 AFIN D’IDENTIFIER LES HABITUDES COMPORTEMENTALES DES UTILISATEURS ET D’AMÉLIORER :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999792" y="3822358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•L’OFFRE DE VÉLOS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999792" y="443230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•LA RÉPARTITION DES STATIONS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99792" y="574040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•L’EXPÉRIENCE GLOBALE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999792" y="5086350"/>
            <a:ext cx="445762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•LES STRATÉGIES D’ABONNEMENT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369859" y="-238812"/>
            <a:ext cx="11719943" cy="10525812"/>
            <a:chOff x="0" y="0"/>
            <a:chExt cx="3086734" cy="27722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86734" cy="2772230"/>
            </a:xfrm>
            <a:custGeom>
              <a:avLst/>
              <a:gdLst/>
              <a:ahLst/>
              <a:cxnLst/>
              <a:rect r="r" b="b" t="t" l="l"/>
              <a:pathLst>
                <a:path h="2772230" w="3086734">
                  <a:moveTo>
                    <a:pt x="0" y="0"/>
                  </a:moveTo>
                  <a:lnTo>
                    <a:pt x="3086734" y="0"/>
                  </a:lnTo>
                  <a:lnTo>
                    <a:pt x="3086734" y="2772230"/>
                  </a:lnTo>
                  <a:lnTo>
                    <a:pt x="0" y="2772230"/>
                  </a:ln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86734" cy="2810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99792" y="1637348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99792" y="4380071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99792" y="7122795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05.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01680" y="1637348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02.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1680" y="4380071"/>
            <a:ext cx="20716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895159"/>
                </a:solidFill>
                <a:latin typeface="Now Heavy"/>
                <a:ea typeface="Now Heavy"/>
                <a:cs typeface="Now Heavy"/>
                <a:sym typeface="Now Heavy"/>
              </a:rPr>
              <a:t>04.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99792" y="2472371"/>
            <a:ext cx="445762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•RENFORCER L’OFFRE EN PÉRIODE ESTIVALE.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999792" y="5086350"/>
            <a:ext cx="4457620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•CIBLER LES OCCASIONNELS AVEC DES OFFRES TOURISTIQUES / WEEK-END.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999792" y="7827644"/>
            <a:ext cx="4457620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•PROMOUVOIR LES VÉLOS ÉLECTRIQUES POUR AMÉLIORER L’EXPÉRIENCE.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801680" y="2472371"/>
            <a:ext cx="445762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•OPTIMISER LA REDISTRIBUTION DES VÉLOS.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801680" y="5111750"/>
            <a:ext cx="445762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i="true" spc="40">
                <a:solidFill>
                  <a:srgbClr val="895159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•FIDÉLISER LES MEMBRES VIA DES AVANTAGES.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AutoShape 26" id="26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11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4034" y="1510348"/>
            <a:ext cx="620848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280">
                <a:solidFill>
                  <a:srgbClr val="013D5A"/>
                </a:solidFill>
                <a:latin typeface="Now Heavy"/>
                <a:ea typeface="Now Heavy"/>
                <a:cs typeface="Now Heavy"/>
                <a:sym typeface="Now Heavy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68960"/>
            <a:ext cx="44076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CYCLISTIC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69859" y="-238812"/>
            <a:ext cx="11054391" cy="10525812"/>
            <a:chOff x="0" y="0"/>
            <a:chExt cx="2911445" cy="2772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11445" cy="2772230"/>
            </a:xfrm>
            <a:custGeom>
              <a:avLst/>
              <a:gdLst/>
              <a:ahLst/>
              <a:cxnLst/>
              <a:rect r="r" b="b" t="t" l="l"/>
              <a:pathLst>
                <a:path h="2772230" w="2911445">
                  <a:moveTo>
                    <a:pt x="0" y="0"/>
                  </a:moveTo>
                  <a:lnTo>
                    <a:pt x="2911445" y="0"/>
                  </a:lnTo>
                  <a:lnTo>
                    <a:pt x="2911445" y="2772230"/>
                  </a:lnTo>
                  <a:lnTo>
                    <a:pt x="0" y="2772230"/>
                  </a:lnTo>
                  <a:close/>
                </a:path>
              </a:pathLst>
            </a:custGeom>
            <a:solidFill>
              <a:srgbClr val="DEEF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11445" cy="2810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1028700" y="1014412"/>
            <a:ext cx="16230600" cy="0"/>
          </a:xfrm>
          <a:prstGeom prst="line">
            <a:avLst/>
          </a:prstGeom>
          <a:ln cap="flat" w="19050">
            <a:solidFill>
              <a:srgbClr val="01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419049" y="568960"/>
            <a:ext cx="2840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140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16/06/2026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26148" y="568960"/>
            <a:ext cx="8357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28">
                <a:solidFill>
                  <a:srgbClr val="013D5A"/>
                </a:solidFill>
                <a:latin typeface="Now"/>
                <a:ea typeface="Now"/>
                <a:cs typeface="Now"/>
                <a:sym typeface="Now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4049" y="2151697"/>
            <a:ext cx="10106012" cy="705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•LES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MEMBRES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CONSTITUENT LE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CŒUR DE L’ACTIVITÉ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, REPRÉSENTANT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 64 % DES USAGES.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•LES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OCCASIONNELS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RÉALISENT DES TRAJETS DEUX FOIS PLUS LONGS QUE LES MEMBRES.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•LES OCCASIONNELS UTILISENT PRINCIPALEMENT LE SERVICE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EN ÉTÉ 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ET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 LE WEEK‑END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,</a:t>
            </a: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        AVEC DES TRAJETS ÉGALEMENT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DEUX FOIS PLUS LONGS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.</a:t>
            </a: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•LES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VÉLOS ÉLECTRIQUES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SONT LÉGÈREMENT MAJORITAIRES, </a:t>
            </a: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        AVEC UNE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TENDANCE À RENFORCER LEUR AVANCE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•LA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 SAISONNALITÉ EST TRÈS MARQUÉE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, AVEC UN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PIC D’ACTIVITÉ ENTRE JUIN ET SEPTEMBRE, 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ET UNE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PRÉFÉRENCE NETTE POUR LE SAMEDI.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•CERTAINES STATIONS NÉCESSITENT UNE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OPTIMISATION OPÉRATIONNELLE.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•UN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DÉSÉQUILIBRE NOTABLE</a:t>
            </a:r>
            <a:r>
              <a:rPr lang="en-US" sz="2000" i="true" spc="40">
                <a:solidFill>
                  <a:srgbClr val="89515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EXISTE ENTRE STATIONS, NÉCESSITANT UN </a:t>
            </a:r>
            <a:r>
              <a:rPr lang="en-US" b="true" sz="2000" i="true" spc="40">
                <a:solidFill>
                  <a:srgbClr val="89515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RÉÉQUILIBRAGE CIBLÉ.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DAHKqj84SI0</dc:identifier>
  <dcterms:modified xsi:type="dcterms:W3CDTF">2011-08-01T06:04:30Z</dcterms:modified>
  <cp:revision>1</cp:revision>
  <dc:title>25/06/2026</dc:title>
</cp:coreProperties>
</file>