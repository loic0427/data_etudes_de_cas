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457200"/>
            <a:ext cx="2743200" cy="2743200"/>
          </a:xfrm>
          <a:prstGeom prst="ellipse">
            <a:avLst/>
          </a:prstGeom>
          <a:solidFill>
            <a:srgbClr val="00A896">
              <a:alpha val="18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731520"/>
            <a:ext cx="2194560" cy="2194560"/>
          </a:xfrm>
          <a:prstGeom prst="ellipse">
            <a:avLst/>
          </a:prstGeom>
          <a:solidFill>
            <a:srgbClr val="00A896">
              <a:alpha val="30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Vélo en libre service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Cyclistic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3127248"/>
            <a:ext cx="3200400" cy="36576"/>
          </a:xfrm>
          <a:prstGeom prst="rect">
            <a:avLst/>
          </a:prstGeom>
          <a:solidFill>
            <a:srgbClr val="8FA8B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Loïc Cipriotti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Mai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" y="4855464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habitudes comportementales des utilisateurs · Données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46304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MATIÈRES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502920"/>
            <a:ext cx="5577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7560" y="66751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6675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77640" y="5760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quoi parlons-nous 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94183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de l'étude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554480"/>
            <a:ext cx="5577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71907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71907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16276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Présentation des données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77640" y="19933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statistique &amp; cartographie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606040"/>
            <a:ext cx="5577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277063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7706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67919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77640" y="304495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Enseignements &amp; recommandations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657600"/>
            <a:ext cx="5577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3822192"/>
            <a:ext cx="530352" cy="53035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822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37307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Annexes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977640" y="40965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complémentaires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FFFFF">
                    <a:alpha val="2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quoi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parlons-nous ?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2286000" cy="5486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quoi parlons-nous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3566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OBJECTIF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d'une base de données regroupant les données 2025 de l'ensemble des stations de vélos en libre-service,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identifier les habitudes comportementales des utilisateurs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5800" y="301752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afin de leur proposer un service de meilleure qualité.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00A896">
              <a:alpha val="12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2511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: 3 693 254 locations enregistrées en 2025  ·  Toutes stations confondues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2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Présentation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données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2286000" cy="54864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d'utilisation des vélos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VÉLO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749040" cy="64008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554480"/>
            <a:ext cx="197162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73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Électrique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673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52,59 %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3749040" cy="64008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697480"/>
            <a:ext cx="1777420" cy="640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16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 Classique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2816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47,41 %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D'UTILISATEUR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92040" y="1554480"/>
            <a:ext cx="3749040" cy="64008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1554480"/>
            <a:ext cx="2405759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673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Abonnés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49440" y="1673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64,17 %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892040" y="2697480"/>
            <a:ext cx="3749040" cy="64008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2697480"/>
            <a:ext cx="1343281" cy="640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816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Occasionnels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0" y="2816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35,83 %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2025 : 3 693 254 locations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Répartition par catégorie d'utilisateurs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91440" cy="1783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  Membres – Vélo classique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08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34,51 %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75488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1 274 457 locations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91440" cy="1783080"/>
          </a:xfrm>
          <a:prstGeom prst="rect">
            <a:avLst/>
          </a:prstGeom>
          <a:solidFill>
            <a:srgbClr val="007D6E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Membres – Vélo électrique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50876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29,66 %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910328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1 095 532 locations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91440" cy="1783080"/>
          </a:xfrm>
          <a:prstGeom prst="rect">
            <a:avLst/>
          </a:prstGeom>
          <a:solidFill>
            <a:srgbClr val="3D516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🚲  Occasionnels – Classique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474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D5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18,09 %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75488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667 951 locations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1605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17520"/>
            <a:ext cx="91440" cy="1783080"/>
          </a:xfrm>
          <a:prstGeom prst="rect">
            <a:avLst/>
          </a:prstGeom>
          <a:solidFill>
            <a:srgbClr val="8FA8B8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3154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Occasionnels – Électrique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0328" y="34747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FA8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17,74 %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910328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655 314 locations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Durée moyenne de trajet &amp; jour préféré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960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960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960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9601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71600"/>
            <a:ext cx="850392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371600"/>
            <a:ext cx="64008" cy="8412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1463040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Occasionnel · Électrique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44475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(Samedi)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60520" y="144475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(Samedi)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15000" y="144475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(Samedi)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69480" y="1444752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(Samedi)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2267712"/>
            <a:ext cx="8503920" cy="841248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267712"/>
            <a:ext cx="64008" cy="841248"/>
          </a:xfrm>
          <a:prstGeom prst="rect">
            <a:avLst/>
          </a:prstGeom>
          <a:solidFill>
            <a:srgbClr val="007D6E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" y="2359152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Occasionnel · Classique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2340864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(Samedi)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60520" y="2340864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(Samedi)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15000" y="2340864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(Samedi)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2340864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(Samedi)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163824"/>
            <a:ext cx="8503920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163824"/>
            <a:ext cx="64008" cy="841248"/>
          </a:xfrm>
          <a:prstGeom prst="rect">
            <a:avLst/>
          </a:prstGeom>
          <a:solidFill>
            <a:srgbClr val="3D5166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" y="3255264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· Électrique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06040" y="3236976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(Lundi)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60520" y="3236976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(Mardi)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15000" y="3236976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(Vendredi)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69480" y="3236976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(Mardi)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20040" y="4059936"/>
            <a:ext cx="8503920" cy="841248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4059936"/>
            <a:ext cx="64008" cy="8412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" y="4151376"/>
            <a:ext cx="2148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 · Classique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06040" y="4133088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(Lundi)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160520" y="4133088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(Mardi)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715000" y="4133088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(Vendredi)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269480" y="4133088"/>
            <a:ext cx="1463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(Mardi)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d'utilisation – Top 4 mois (Juin à Septembre)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960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Cas. Élec.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960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Cas. Classic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49240" y="960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Mbr. Élec.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0" y="960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Mbr. Classic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325880"/>
            <a:ext cx="850392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904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65960" y="1399032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83 786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1399032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109 377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2,96%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399032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109 462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2,96%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399032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143 738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3,89%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221992"/>
            <a:ext cx="8503920" cy="822960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38658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2295144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100 030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2,71%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57600" y="2295144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108 710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2,94%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2295144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129 991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295144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155 562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4,21%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" y="3118104"/>
            <a:ext cx="850392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8269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65960" y="3191256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103 729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2,81%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3191256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117 471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2,19%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3191256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131 528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3,56%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3191256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162 805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4,41%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0040" y="4014216"/>
            <a:ext cx="8503920" cy="822960"/>
          </a:xfrm>
          <a:prstGeom prst="rect">
            <a:avLst/>
          </a:prstGeom>
          <a:solidFill>
            <a:srgbClr val="E2EBF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1788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65960" y="4087368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91 735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2,48%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0" y="4087368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80 765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4087368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137 439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3,72%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4087368"/>
            <a:ext cx="1600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157 942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4,28%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Taux vélos retirés / vélos déposés par station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Stations déficitaires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où il y a plus de retraits que de dépôts. Nécessitent un réapprovisionnement fréquent.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143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188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Stations excédentaires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où les dépôts dépassent les retraits. Peuvent servir de source pour rééquilibrer le réseau.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8412480" cy="16002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273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Interprétation du ratio D/R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639312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négative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plus de retraits que de dépôts : risque de pénurie de vélos sur cette station.
</a:t>
            </a:r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positive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plus de dépôts que de retraits : risque d'engorgement de la station.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Écart Retrait / Dépôt par station – Juin &amp; Juillet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69080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3268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96596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2984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Déficitaires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280160"/>
            <a:ext cx="1965960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8"/>
          <p:cNvSpPr/>
          <p:nvPr/>
        </p:nvSpPr>
        <p:spPr>
          <a:xfrm>
            <a:off x="2395728" y="12984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Excédentaires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196596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6002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St &amp; Huron 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16002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1965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93852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St &amp; Jackson Blvd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1938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-195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196596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2768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St &amp; Randolph 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37360" y="22768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596896"/>
            <a:ext cx="1965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6151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Cityfront Plaza Dr &amp; Pioneer Ct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37360" y="26151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35224"/>
            <a:ext cx="196596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9535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St &amp; Chicago Ave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37360" y="29535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77440" y="1581912"/>
            <a:ext cx="196596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7" name="Text 25"/>
          <p:cNvSpPr/>
          <p:nvPr/>
        </p:nvSpPr>
        <p:spPr>
          <a:xfrm>
            <a:off x="2423160" y="16002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DuSable Lake Shore Dr &amp; North Blvd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0" y="16002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1920240"/>
            <a:ext cx="1965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423160" y="193852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St &amp; Lincoln Ave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0" y="1938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258568"/>
            <a:ext cx="196596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3" name="Text 31"/>
          <p:cNvSpPr/>
          <p:nvPr/>
        </p:nvSpPr>
        <p:spPr>
          <a:xfrm>
            <a:off x="2423160" y="22768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Lincoln Park Conservatory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0" y="22768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2596896"/>
            <a:ext cx="1965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423160" y="26151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St &amp; Monroe St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0" y="26151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2935224"/>
            <a:ext cx="196596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9" name="Text 37"/>
          <p:cNvSpPr/>
          <p:nvPr/>
        </p:nvSpPr>
        <p:spPr>
          <a:xfrm>
            <a:off x="2423160" y="29535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St &amp; Armitage Ave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40480" y="29535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914400"/>
            <a:ext cx="425196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9326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17720" y="1280160"/>
            <a:ext cx="210312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4636008" y="129844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Déficitaires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0" y="1280160"/>
            <a:ext cx="2011680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Text 44"/>
          <p:cNvSpPr/>
          <p:nvPr/>
        </p:nvSpPr>
        <p:spPr>
          <a:xfrm>
            <a:off x="6876288" y="1298448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Excédentaires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17720" y="1581912"/>
            <a:ext cx="210312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16002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Columbus Dr &amp; Randolph St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16002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-263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17720" y="1920240"/>
            <a:ext cx="21031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1938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Cityfront Plaza Dr &amp; Pioneer Ct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26480" y="1938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-237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17720" y="2258568"/>
            <a:ext cx="210312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2276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St &amp; Chicago Ave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26480" y="2276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-232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17720" y="2596896"/>
            <a:ext cx="21031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26151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Museum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26480" y="26151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17720" y="2935224"/>
            <a:ext cx="210312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60" name="Text 58"/>
          <p:cNvSpPr/>
          <p:nvPr/>
        </p:nvSpPr>
        <p:spPr>
          <a:xfrm>
            <a:off x="4663440" y="29535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Buckingham Fountain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126480" y="2953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858000" y="1581912"/>
            <a:ext cx="201168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3" name="Text 61"/>
          <p:cNvSpPr/>
          <p:nvPr/>
        </p:nvSpPr>
        <p:spPr>
          <a:xfrm>
            <a:off x="6903720" y="1600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St &amp; Monroe St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321040" y="16002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58000" y="1920240"/>
            <a:ext cx="20116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6903720" y="1938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DuSable Lake Shore Dr &amp; North Blvd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321040" y="1938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58000" y="2258568"/>
            <a:ext cx="201168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9" name="Text 67"/>
          <p:cNvSpPr/>
          <p:nvPr/>
        </p:nvSpPr>
        <p:spPr>
          <a:xfrm>
            <a:off x="6903720" y="22768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Clair St &amp; Erie St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21040" y="22768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858000" y="2596896"/>
            <a:ext cx="20116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903720" y="2615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on the Lake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21040" y="26151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858000" y="2935224"/>
            <a:ext cx="201168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75" name="Text 73"/>
          <p:cNvSpPr/>
          <p:nvPr/>
        </p:nvSpPr>
        <p:spPr>
          <a:xfrm>
            <a:off x="6903720" y="29535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St &amp; Drummond Pl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321040" y="29535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Écart Retrait / Dépôt par station – Août &amp; Septembre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0" y="73152"/>
            <a:ext cx="9144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69080" cy="34747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3268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AOÛT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96596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" y="12984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Déficitaires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280160"/>
            <a:ext cx="1965960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8"/>
          <p:cNvSpPr/>
          <p:nvPr/>
        </p:nvSpPr>
        <p:spPr>
          <a:xfrm>
            <a:off x="2395728" y="129844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Excédentaires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81912"/>
            <a:ext cx="196596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6002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Museum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16002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1965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93852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Columbus Dr &amp; Randolph 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37360" y="1938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58568"/>
            <a:ext cx="196596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2768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Desplaines St &amp; Kinzie 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37360" y="22768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596896"/>
            <a:ext cx="1965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6151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Cityfront Plaza Dr &amp; Pioneer Ct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37360" y="26151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35224"/>
            <a:ext cx="196596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9535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St &amp; Ida B Wells Dr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37360" y="29535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-240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77440" y="1581912"/>
            <a:ext cx="196596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7" name="Text 25"/>
          <p:cNvSpPr/>
          <p:nvPr/>
        </p:nvSpPr>
        <p:spPr>
          <a:xfrm>
            <a:off x="2423160" y="16002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Clair St &amp; Erie 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0" y="160020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1920240"/>
            <a:ext cx="1965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423160" y="193852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DuSable Lake Shore Dr &amp; North Blvd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0" y="193852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258568"/>
            <a:ext cx="196596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3" name="Text 31"/>
          <p:cNvSpPr/>
          <p:nvPr/>
        </p:nvSpPr>
        <p:spPr>
          <a:xfrm>
            <a:off x="2423160" y="22768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Theater on the Lake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0" y="227685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2596896"/>
            <a:ext cx="19659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423160" y="261518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Sheffield Ave &amp; Waveland Ave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0" y="26151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77440" y="2935224"/>
            <a:ext cx="196596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39" name="Text 37"/>
          <p:cNvSpPr/>
          <p:nvPr/>
        </p:nvSpPr>
        <p:spPr>
          <a:xfrm>
            <a:off x="2423160" y="295351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St &amp; Monroe St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840480" y="29535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914400"/>
            <a:ext cx="425196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9326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SEPTEMBRE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617720" y="1280160"/>
            <a:ext cx="210312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44" name="Text 42"/>
          <p:cNvSpPr/>
          <p:nvPr/>
        </p:nvSpPr>
        <p:spPr>
          <a:xfrm>
            <a:off x="4636008" y="129844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Déficitaires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0" y="1280160"/>
            <a:ext cx="2011680" cy="2743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6" name="Text 44"/>
          <p:cNvSpPr/>
          <p:nvPr/>
        </p:nvSpPr>
        <p:spPr>
          <a:xfrm>
            <a:off x="6876288" y="1298448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Excédentaires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17720" y="1581912"/>
            <a:ext cx="210312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16002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Columbus Dr &amp; Randolph St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16002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-375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17720" y="1920240"/>
            <a:ext cx="21031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19385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Cityfront Plaza Dr &amp; Pioneer Ct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126480" y="19385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-270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17720" y="2258568"/>
            <a:ext cx="210312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2276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Museum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26480" y="2276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-257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17720" y="2596896"/>
            <a:ext cx="21031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26151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DuSable Lake Shore Dr &amp; Monroe St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126480" y="26151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-256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17720" y="2935224"/>
            <a:ext cx="2103120" cy="301752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60" name="Text 58"/>
          <p:cNvSpPr/>
          <p:nvPr/>
        </p:nvSpPr>
        <p:spPr>
          <a:xfrm>
            <a:off x="4663440" y="29535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Desplaines St &amp; Kinzie St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126480" y="295351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-253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858000" y="1581912"/>
            <a:ext cx="201168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3" name="Text 61"/>
          <p:cNvSpPr/>
          <p:nvPr/>
        </p:nvSpPr>
        <p:spPr>
          <a:xfrm>
            <a:off x="6903720" y="16002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 Clair St &amp; Erie St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321040" y="1600200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858000" y="1920240"/>
            <a:ext cx="20116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6903720" y="1938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Franklin St &amp; Monroe St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321040" y="1938528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58000" y="2258568"/>
            <a:ext cx="201168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9" name="Text 67"/>
          <p:cNvSpPr/>
          <p:nvPr/>
        </p:nvSpPr>
        <p:spPr>
          <a:xfrm>
            <a:off x="6903720" y="22768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St &amp; Randolph St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21040" y="2276856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858000" y="2596896"/>
            <a:ext cx="201168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903720" y="26151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St &amp; Newport St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321040" y="2615184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858000" y="2935224"/>
            <a:ext cx="2011680" cy="30175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75" name="Text 73"/>
          <p:cNvSpPr/>
          <p:nvPr/>
        </p:nvSpPr>
        <p:spPr>
          <a:xfrm>
            <a:off x="6903720" y="29535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Sheffield Ave &amp; Addison St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321040" y="2953512"/>
            <a:ext cx="502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743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>
                    <a:alpha val="2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2860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21031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09397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vélos électriques dominent légèrement (52,59 %) — tendance à consolider.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281635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816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80720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abonnés représentent 64 % des usages, mais les occasionnels ont des trajets 2x plus longs.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352958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29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35204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d'activité en été (juin–septembre) avec une nette préférence pour le samedi chez les occasionnels.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424281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242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4233672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notable entre stations : certains sites nécessitent un rééquilibrage régulier.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Vélo en libre service – Cyclistic</dc:title>
  <dc:subject>PptxGenJS Presentation</dc:subject>
  <dc:creator>Loïc Cipriotti</dc:creator>
  <cp:lastModifiedBy>Loïc Cipriotti</cp:lastModifiedBy>
  <cp:revision>1</cp:revision>
  <dcterms:created xsi:type="dcterms:W3CDTF">2026-05-24T13:20:59Z</dcterms:created>
  <dcterms:modified xsi:type="dcterms:W3CDTF">2026-05-24T13:20:59Z</dcterms:modified>
</cp:coreProperties>
</file>